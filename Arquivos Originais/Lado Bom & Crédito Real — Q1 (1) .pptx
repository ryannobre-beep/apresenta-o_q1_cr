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Open Sans SemiBold"/>
      <p:regular r:id="rId13"/>
      <p:bold r:id="rId14"/>
      <p:italic r:id="rId15"/>
      <p:boldItalic r:id="rId16"/>
    </p:embeddedFont>
    <p:embeddedFont>
      <p:font typeface="Roboto SemiBold"/>
      <p:regular r:id="rId17"/>
      <p:bold r:id="rId18"/>
      <p:italic r:id="rId19"/>
      <p:boldItalic r:id="rId20"/>
    </p:embeddedFont>
    <p:embeddedFont>
      <p:font typeface="Roboto Light"/>
      <p:regular r:id="rId21"/>
      <p:bold r:id="rId22"/>
      <p:italic r:id="rId23"/>
      <p:boldItalic r:id="rId24"/>
    </p:embeddedFont>
    <p:embeddedFont>
      <p:font typeface="DM Serif Display"/>
      <p:regular r:id="rId25"/>
      <p: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miBold-boldItalic.fntdata"/><Relationship Id="rId22" Type="http://schemas.openxmlformats.org/officeDocument/2006/relationships/font" Target="fonts/RobotoLight-bold.fntdata"/><Relationship Id="rId21" Type="http://schemas.openxmlformats.org/officeDocument/2006/relationships/font" Target="fonts/RobotoLight-regular.fntdata"/><Relationship Id="rId24" Type="http://schemas.openxmlformats.org/officeDocument/2006/relationships/font" Target="fonts/RobotoLight-boldItalic.fntdata"/><Relationship Id="rId23" Type="http://schemas.openxmlformats.org/officeDocument/2006/relationships/font" Target="fonts/Roboto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regular.fntdata"/><Relationship Id="rId26" Type="http://schemas.openxmlformats.org/officeDocument/2006/relationships/font" Target="fonts/DMSerifDisplay-italic.fntdata"/><Relationship Id="rId25" Type="http://schemas.openxmlformats.org/officeDocument/2006/relationships/font" Target="fonts/DMSerifDisplay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OpenSans-boldItalic.fntdata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OpenSansSemiBold-regular.fntdata"/><Relationship Id="rId12" Type="http://schemas.openxmlformats.org/officeDocument/2006/relationships/font" Target="fonts/Roboto-boldItalic.fntdata"/><Relationship Id="rId15" Type="http://schemas.openxmlformats.org/officeDocument/2006/relationships/font" Target="fonts/OpenSansSemiBold-italic.fntdata"/><Relationship Id="rId14" Type="http://schemas.openxmlformats.org/officeDocument/2006/relationships/font" Target="fonts/OpenSansSemiBold-bold.fntdata"/><Relationship Id="rId17" Type="http://schemas.openxmlformats.org/officeDocument/2006/relationships/font" Target="fonts/RobotoSemiBold-regular.fntdata"/><Relationship Id="rId16" Type="http://schemas.openxmlformats.org/officeDocument/2006/relationships/font" Target="fonts/OpenSansSemiBold-boldItalic.fntdata"/><Relationship Id="rId19" Type="http://schemas.openxmlformats.org/officeDocument/2006/relationships/font" Target="fonts/RobotoSemiBold-italic.fntdata"/><Relationship Id="rId18" Type="http://schemas.openxmlformats.org/officeDocument/2006/relationships/font" Target="fonts/Roboto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6a1aa19a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46a1aa19a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233c9796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5233c9796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/>
              <a:t>Maior Crescimentos TBM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8aee836f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a8aee836f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/>
              <a:t>Maior Crescimentos TBM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8aee836f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8aee836f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/>
              <a:t>Maior Crescimentos TBM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hasCustomPrompt="1" type="title"/>
          </p:nvPr>
        </p:nvSpPr>
        <p:spPr>
          <a:xfrm>
            <a:off x="1714677" y="539500"/>
            <a:ext cx="3035100" cy="82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714680" y="1365424"/>
            <a:ext cx="303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5395673" y="539513"/>
            <a:ext cx="3035100" cy="82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5395673" y="1365416"/>
            <a:ext cx="30351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4394223" y="2761414"/>
            <a:ext cx="3035100" cy="82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5" type="subTitle"/>
          </p:nvPr>
        </p:nvSpPr>
        <p:spPr>
          <a:xfrm>
            <a:off x="4394223" y="3587316"/>
            <a:ext cx="30351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6" type="title"/>
          </p:nvPr>
        </p:nvSpPr>
        <p:spPr>
          <a:xfrm>
            <a:off x="713230" y="2761413"/>
            <a:ext cx="3035100" cy="82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7" type="subTitle"/>
          </p:nvPr>
        </p:nvSpPr>
        <p:spPr>
          <a:xfrm>
            <a:off x="713230" y="3587315"/>
            <a:ext cx="30351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" name="Google Shape;59;p13"/>
          <p:cNvSpPr txBox="1"/>
          <p:nvPr>
            <p:ph idx="8" type="subTitle"/>
          </p:nvPr>
        </p:nvSpPr>
        <p:spPr>
          <a:xfrm>
            <a:off x="1714680" y="1771264"/>
            <a:ext cx="30351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9" type="subTitle"/>
          </p:nvPr>
        </p:nvSpPr>
        <p:spPr>
          <a:xfrm>
            <a:off x="5395673" y="1771266"/>
            <a:ext cx="30351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3" type="subTitle"/>
          </p:nvPr>
        </p:nvSpPr>
        <p:spPr>
          <a:xfrm>
            <a:off x="4394223" y="3993142"/>
            <a:ext cx="30351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4" type="subTitle"/>
          </p:nvPr>
        </p:nvSpPr>
        <p:spPr>
          <a:xfrm>
            <a:off x="713230" y="3993142"/>
            <a:ext cx="30351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3" name="Google Shape;63;p13"/>
          <p:cNvGrpSpPr/>
          <p:nvPr/>
        </p:nvGrpSpPr>
        <p:grpSpPr>
          <a:xfrm>
            <a:off x="0" y="0"/>
            <a:ext cx="9155400" cy="5142000"/>
            <a:chOff x="0" y="0"/>
            <a:chExt cx="9155400" cy="5142000"/>
          </a:xfrm>
        </p:grpSpPr>
        <p:sp>
          <p:nvSpPr>
            <p:cNvPr id="64" name="Google Shape;64;p13"/>
            <p:cNvSpPr/>
            <p:nvPr/>
          </p:nvSpPr>
          <p:spPr>
            <a:xfrm rot="10800000">
              <a:off x="8989451" y="5013126"/>
              <a:ext cx="59175" cy="59150"/>
            </a:xfrm>
            <a:custGeom>
              <a:rect b="b" l="l" r="r" t="t"/>
              <a:pathLst>
                <a:path extrusionOk="0" fill="none" h="2366" w="2367">
                  <a:moveTo>
                    <a:pt x="2367" y="1183"/>
                  </a:moveTo>
                  <a:cubicBezTo>
                    <a:pt x="2367" y="1828"/>
                    <a:pt x="1829" y="2366"/>
                    <a:pt x="1184" y="2366"/>
                  </a:cubicBezTo>
                  <a:cubicBezTo>
                    <a:pt x="539" y="2366"/>
                    <a:pt x="1" y="1828"/>
                    <a:pt x="1" y="1183"/>
                  </a:cubicBezTo>
                  <a:cubicBezTo>
                    <a:pt x="1" y="538"/>
                    <a:pt x="539" y="0"/>
                    <a:pt x="1184" y="0"/>
                  </a:cubicBezTo>
                  <a:cubicBezTo>
                    <a:pt x="1829" y="0"/>
                    <a:pt x="2367" y="538"/>
                    <a:pt x="2367" y="1183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5" name="Google Shape;65;p13"/>
            <p:cNvCxnSpPr/>
            <p:nvPr/>
          </p:nvCxnSpPr>
          <p:spPr>
            <a:xfrm>
              <a:off x="0" y="229789"/>
              <a:ext cx="915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0" y="4918339"/>
              <a:ext cx="915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32600" y="0"/>
              <a:ext cx="0" cy="491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13"/>
            <p:cNvCxnSpPr/>
            <p:nvPr/>
          </p:nvCxnSpPr>
          <p:spPr>
            <a:xfrm>
              <a:off x="8914200" y="229800"/>
              <a:ext cx="0" cy="491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" name="Google Shape;69;p13"/>
            <p:cNvSpPr/>
            <p:nvPr/>
          </p:nvSpPr>
          <p:spPr>
            <a:xfrm rot="10800000">
              <a:off x="77034" y="82775"/>
              <a:ext cx="59176" cy="59176"/>
            </a:xfrm>
            <a:custGeom>
              <a:rect b="b" l="l" r="r" t="t"/>
              <a:pathLst>
                <a:path extrusionOk="0" h="3173" w="3173">
                  <a:moveTo>
                    <a:pt x="1587" y="0"/>
                  </a:moveTo>
                  <a:cubicBezTo>
                    <a:pt x="726" y="0"/>
                    <a:pt x="0" y="726"/>
                    <a:pt x="0" y="1586"/>
                  </a:cubicBezTo>
                  <a:cubicBezTo>
                    <a:pt x="0" y="2473"/>
                    <a:pt x="726" y="3172"/>
                    <a:pt x="1587" y="3172"/>
                  </a:cubicBezTo>
                  <a:cubicBezTo>
                    <a:pt x="2474" y="3172"/>
                    <a:pt x="3173" y="2473"/>
                    <a:pt x="3173" y="1586"/>
                  </a:cubicBezTo>
                  <a:cubicBezTo>
                    <a:pt x="3173" y="726"/>
                    <a:pt x="2474" y="0"/>
                    <a:pt x="15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811" y="325130"/>
            <a:ext cx="448846" cy="45774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936938" y="273844"/>
            <a:ext cx="7578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600"/>
              <a:buFont typeface="Open Sans SemiBold"/>
              <a:buNone/>
              <a:defRPr b="0" sz="2600">
                <a:solidFill>
                  <a:srgbClr val="3A3838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936938" y="1369219"/>
            <a:ext cx="7578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sz="15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74" name="Google Shape;74;p14"/>
          <p:cNvCxnSpPr/>
          <p:nvPr/>
        </p:nvCxnSpPr>
        <p:spPr>
          <a:xfrm flipH="1" rot="10800000">
            <a:off x="986038" y="1044018"/>
            <a:ext cx="1254000" cy="6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A2BB3"/>
            </a:gs>
            <a:gs pos="100000">
              <a:srgbClr val="522185"/>
            </a:gs>
          </a:gsLst>
          <a:lin ang="18900044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-778800" y="3427850"/>
            <a:ext cx="5350800" cy="756300"/>
          </a:xfrm>
          <a:prstGeom prst="roundRect">
            <a:avLst>
              <a:gd fmla="val 25188" name="adj"/>
            </a:avLst>
          </a:prstGeom>
          <a:solidFill>
            <a:srgbClr val="000000">
              <a:alpha val="20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15"/>
          <p:cNvGrpSpPr/>
          <p:nvPr/>
        </p:nvGrpSpPr>
        <p:grpSpPr>
          <a:xfrm>
            <a:off x="6408875" y="-162387"/>
            <a:ext cx="3499131" cy="5687654"/>
            <a:chOff x="63500" y="63516"/>
            <a:chExt cx="1559814" cy="2535396"/>
          </a:xfrm>
        </p:grpSpPr>
        <p:sp>
          <p:nvSpPr>
            <p:cNvPr id="81" name="Google Shape;81;p15"/>
            <p:cNvSpPr/>
            <p:nvPr/>
          </p:nvSpPr>
          <p:spPr>
            <a:xfrm>
              <a:off x="63500" y="648650"/>
              <a:ext cx="1315577" cy="1950262"/>
            </a:xfrm>
            <a:custGeom>
              <a:rect b="b" l="l" r="r" t="t"/>
              <a:pathLst>
                <a:path extrusionOk="0" h="1950262" w="1315577">
                  <a:moveTo>
                    <a:pt x="1289939" y="1639255"/>
                  </a:moveTo>
                  <a:lnTo>
                    <a:pt x="876808" y="1400749"/>
                  </a:lnTo>
                  <a:lnTo>
                    <a:pt x="565277" y="1581597"/>
                  </a:lnTo>
                  <a:cubicBezTo>
                    <a:pt x="531114" y="1601409"/>
                    <a:pt x="488315" y="1576771"/>
                    <a:pt x="488315" y="1537274"/>
                  </a:cubicBezTo>
                  <a:lnTo>
                    <a:pt x="488315" y="244414"/>
                  </a:lnTo>
                  <a:lnTo>
                    <a:pt x="76835" y="6924"/>
                  </a:lnTo>
                  <a:cubicBezTo>
                    <a:pt x="42672" y="-12761"/>
                    <a:pt x="0" y="11877"/>
                    <a:pt x="0" y="51247"/>
                  </a:cubicBezTo>
                  <a:lnTo>
                    <a:pt x="0" y="1177610"/>
                  </a:lnTo>
                  <a:cubicBezTo>
                    <a:pt x="0" y="1351600"/>
                    <a:pt x="92837" y="1512382"/>
                    <a:pt x="243586" y="1599377"/>
                  </a:cubicBezTo>
                  <a:lnTo>
                    <a:pt x="828548" y="1936562"/>
                  </a:lnTo>
                  <a:cubicBezTo>
                    <a:pt x="860298" y="1954850"/>
                    <a:pt x="899541" y="1954850"/>
                    <a:pt x="931291" y="1936435"/>
                  </a:cubicBezTo>
                  <a:lnTo>
                    <a:pt x="1290066" y="1727901"/>
                  </a:lnTo>
                  <a:cubicBezTo>
                    <a:pt x="1324102" y="1708089"/>
                    <a:pt x="1324102" y="1658940"/>
                    <a:pt x="1289939" y="1639255"/>
                  </a:cubicBezTo>
                </a:path>
              </a:pathLst>
            </a:custGeom>
            <a:noFill/>
            <a:ln cap="flat" cmpd="sng" w="10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475" lIns="32475" spcFirstLastPara="1" rIns="32475" wrap="square" tIns="3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307864" y="63516"/>
              <a:ext cx="1315450" cy="1950262"/>
            </a:xfrm>
            <a:custGeom>
              <a:rect b="b" l="l" r="r" t="t"/>
              <a:pathLst>
                <a:path extrusionOk="0" h="1950262" w="1315450">
                  <a:moveTo>
                    <a:pt x="25638" y="311007"/>
                  </a:moveTo>
                  <a:lnTo>
                    <a:pt x="438642" y="549640"/>
                  </a:lnTo>
                  <a:lnTo>
                    <a:pt x="750173" y="368665"/>
                  </a:lnTo>
                  <a:cubicBezTo>
                    <a:pt x="784336" y="348853"/>
                    <a:pt x="827135" y="373491"/>
                    <a:pt x="827135" y="412988"/>
                  </a:cubicBezTo>
                  <a:lnTo>
                    <a:pt x="827135" y="1705848"/>
                  </a:lnTo>
                  <a:lnTo>
                    <a:pt x="1238615" y="1943338"/>
                  </a:lnTo>
                  <a:cubicBezTo>
                    <a:pt x="1272778" y="1963023"/>
                    <a:pt x="1315450" y="1938385"/>
                    <a:pt x="1315450" y="1899015"/>
                  </a:cubicBezTo>
                  <a:lnTo>
                    <a:pt x="1315450" y="772652"/>
                  </a:lnTo>
                  <a:cubicBezTo>
                    <a:pt x="1315450" y="598662"/>
                    <a:pt x="1222613" y="437880"/>
                    <a:pt x="1071864" y="350885"/>
                  </a:cubicBezTo>
                  <a:lnTo>
                    <a:pt x="486902" y="13700"/>
                  </a:lnTo>
                  <a:cubicBezTo>
                    <a:pt x="455152" y="-4588"/>
                    <a:pt x="415909" y="-4588"/>
                    <a:pt x="384159" y="13827"/>
                  </a:cubicBezTo>
                  <a:lnTo>
                    <a:pt x="25511" y="222361"/>
                  </a:lnTo>
                  <a:cubicBezTo>
                    <a:pt x="-8525" y="242173"/>
                    <a:pt x="-8525" y="291322"/>
                    <a:pt x="25638" y="311007"/>
                  </a:cubicBezTo>
                </a:path>
              </a:pathLst>
            </a:custGeom>
            <a:noFill/>
            <a:ln cap="flat" cmpd="sng" w="10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475" lIns="32475" spcFirstLastPara="1" rIns="32475" wrap="square" tIns="3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5"/>
          <p:cNvSpPr txBox="1"/>
          <p:nvPr/>
        </p:nvSpPr>
        <p:spPr>
          <a:xfrm>
            <a:off x="572500" y="1399109"/>
            <a:ext cx="4848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225" lIns="83225" spcFirstLastPara="1" rIns="83225" wrap="square" tIns="83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PERFORMANCE</a:t>
            </a:r>
            <a:r>
              <a:rPr b="1" lang="pt-BR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0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| Lado Bom &amp; Crédito Real </a:t>
            </a:r>
            <a:endParaRPr sz="2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4" name="Google Shape;84;p15" title="ZxvcAoF3NbkBYC5P_Logo2.png"/>
          <p:cNvPicPr preferRelativeResize="0"/>
          <p:nvPr/>
        </p:nvPicPr>
        <p:blipFill rotWithShape="1">
          <a:blip r:embed="rId3">
            <a:alphaModFix/>
          </a:blip>
          <a:srcRect b="34534" l="24653" r="0" t="27179"/>
          <a:stretch/>
        </p:blipFill>
        <p:spPr>
          <a:xfrm>
            <a:off x="2293300" y="3608600"/>
            <a:ext cx="1969276" cy="38911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4094471" y="2369792"/>
            <a:ext cx="5544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3225" lIns="83225" spcFirstLastPara="1" rIns="83225" wrap="square" tIns="8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14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5" title="amarel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225" y="3614294"/>
            <a:ext cx="1198310" cy="38910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544475" y="2086050"/>
            <a:ext cx="58644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RESULTADOS Q1 2026</a:t>
            </a:r>
            <a:endParaRPr b="1"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RESULTADOS E PERSPECTIVAS</a:t>
            </a:r>
            <a:endParaRPr b="1"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2173833" y="588125"/>
            <a:ext cx="5780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23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rPr>
              <a:t>1 ANO DE LADO BOM SEGUROS!</a:t>
            </a:r>
            <a:endParaRPr b="1" sz="2323">
              <a:solidFill>
                <a:srgbClr val="4E01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/>
          <p:nvPr/>
        </p:nvSpPr>
        <p:spPr>
          <a:xfrm rot="-5400000">
            <a:off x="8634600" y="2971200"/>
            <a:ext cx="2413800" cy="1957800"/>
          </a:xfrm>
          <a:prstGeom prst="snip2DiagRect">
            <a:avLst>
              <a:gd fmla="val 0" name="adj1"/>
              <a:gd fmla="val 16667" name="adj2"/>
            </a:avLst>
          </a:prstGeom>
          <a:gradFill>
            <a:gsLst>
              <a:gs pos="0">
                <a:srgbClr val="6A2BB3"/>
              </a:gs>
              <a:gs pos="100000">
                <a:srgbClr val="522185"/>
              </a:gs>
            </a:gsLst>
            <a:lin ang="10801400" scaled="0"/>
          </a:gradFill>
          <a:ln>
            <a:noFill/>
          </a:ln>
          <a:effectLst>
            <a:outerShdw blurRad="57150" rotWithShape="0" algn="bl" dir="1584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 title="01_lancamento_corretora_lado_bom_seguros_gruporv_florianopolis_acate_experience_passeio_hub_primavera.jpg"/>
          <p:cNvPicPr preferRelativeResize="0"/>
          <p:nvPr/>
        </p:nvPicPr>
        <p:blipFill rotWithShape="1">
          <a:blip r:embed="rId3">
            <a:alphaModFix/>
          </a:blip>
          <a:srcRect b="4552" l="6340" r="48823" t="7744"/>
          <a:stretch/>
        </p:blipFill>
        <p:spPr>
          <a:xfrm>
            <a:off x="-76200" y="-14007"/>
            <a:ext cx="1795276" cy="52672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5" name="Google Shape;95;p16"/>
          <p:cNvSpPr/>
          <p:nvPr/>
        </p:nvSpPr>
        <p:spPr>
          <a:xfrm>
            <a:off x="2895600" y="3276600"/>
            <a:ext cx="1828800" cy="1143000"/>
          </a:xfrm>
          <a:prstGeom prst="roundRect">
            <a:avLst>
              <a:gd fmla="val 6387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2895600" y="3352800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D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502896"/>
                </a:solidFill>
                <a:latin typeface="Roboto"/>
                <a:ea typeface="Roboto"/>
                <a:cs typeface="Roboto"/>
                <a:sym typeface="Roboto"/>
              </a:rPr>
              <a:t>+10 anos</a:t>
            </a:r>
            <a:endParaRPr b="1" i="0" sz="2800" u="none" cap="none" strike="noStrike">
              <a:solidFill>
                <a:srgbClr val="5028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895600" y="3884259"/>
            <a:ext cx="1828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rPr>
              <a:t>de experiência no</a:t>
            </a:r>
            <a:endParaRPr i="0" sz="1200" u="none" cap="none" strike="noStrike">
              <a:solidFill>
                <a:srgbClr val="4E018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i="0" lang="pt-BR" sz="1200" u="none" cap="none" strike="noStrike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rPr>
              <a:t>mercado imobiliário</a:t>
            </a:r>
            <a:endParaRPr i="0" sz="1200" u="none" cap="none" strike="noStrike">
              <a:solidFill>
                <a:srgbClr val="4E01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181600" y="3276600"/>
            <a:ext cx="1828800" cy="1143000"/>
          </a:xfrm>
          <a:prstGeom prst="roundRect">
            <a:avLst>
              <a:gd fmla="val 6387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181600" y="3352800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D"/>
              </a:buClr>
              <a:buSzPts val="2800"/>
              <a:buFont typeface="Calibri"/>
              <a:buNone/>
            </a:pPr>
            <a:r>
              <a:rPr b="1" lang="pt-BR" sz="2800">
                <a:solidFill>
                  <a:srgbClr val="502896"/>
                </a:solidFill>
                <a:latin typeface="Roboto"/>
                <a:ea typeface="Roboto"/>
                <a:cs typeface="Roboto"/>
                <a:sym typeface="Roboto"/>
              </a:rPr>
              <a:t>+5.000</a:t>
            </a:r>
            <a:endParaRPr b="1" sz="2800">
              <a:solidFill>
                <a:srgbClr val="5028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181600" y="3884259"/>
            <a:ext cx="1828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lang="pt-BR" sz="1200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rPr>
              <a:t>apólices ativas</a:t>
            </a:r>
            <a:endParaRPr sz="1200">
              <a:solidFill>
                <a:srgbClr val="4E018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lang="pt-BR" sz="1200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rPr>
              <a:t>em todo o Brasil</a:t>
            </a:r>
            <a:endParaRPr sz="1200">
              <a:solidFill>
                <a:srgbClr val="4E01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2133600" y="1905000"/>
            <a:ext cx="6100200" cy="1000200"/>
            <a:chOff x="2133600" y="1819200"/>
            <a:chExt cx="6100200" cy="1000200"/>
          </a:xfrm>
        </p:grpSpPr>
        <p:sp>
          <p:nvSpPr>
            <p:cNvPr id="102" name="Google Shape;102;p16"/>
            <p:cNvSpPr txBox="1"/>
            <p:nvPr/>
          </p:nvSpPr>
          <p:spPr>
            <a:xfrm>
              <a:off x="2133600" y="1819200"/>
              <a:ext cx="6100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375" lIns="66375" spcFirstLastPara="1" rIns="66375" wrap="square" tIns="663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7"/>
                <a:t>Em menos de </a:t>
              </a:r>
              <a:r>
                <a:rPr b="1" lang="pt-BR" sz="1407"/>
                <a:t>1 ano</a:t>
              </a:r>
              <a:r>
                <a:rPr lang="pt-BR" sz="1407"/>
                <a:t> recebemos </a:t>
              </a:r>
              <a:r>
                <a:rPr b="1" lang="pt-BR" sz="1407"/>
                <a:t>2 prêmios</a:t>
              </a:r>
              <a:r>
                <a:rPr lang="pt-BR" sz="1407"/>
                <a:t>: </a:t>
              </a:r>
              <a:endParaRPr sz="140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7"/>
            </a:p>
            <a:p>
              <a:pPr indent="-317936" lvl="0" marL="457200" rtl="0" algn="l">
                <a:spcBef>
                  <a:spcPts val="0"/>
                </a:spcBef>
                <a:spcAft>
                  <a:spcPts val="0"/>
                </a:spcAft>
                <a:buSzPts val="1407"/>
                <a:buChar char="●"/>
              </a:pPr>
              <a:r>
                <a:rPr lang="pt-BR" sz="1407"/>
                <a:t>Corretora Elite Porto de Consórcio</a:t>
              </a:r>
              <a:endParaRPr sz="1407"/>
            </a:p>
            <a:p>
              <a:pPr indent="-317936" lvl="0" marL="457200" rtl="0" algn="l">
                <a:spcBef>
                  <a:spcPts val="0"/>
                </a:spcBef>
                <a:spcAft>
                  <a:spcPts val="0"/>
                </a:spcAft>
                <a:buSzPts val="1407"/>
                <a:buChar char="●"/>
              </a:pPr>
              <a:r>
                <a:rPr lang="pt-BR" sz="1407"/>
                <a:t>2ª maior corretora do Sul do Brasil (Porto)</a:t>
              </a:r>
              <a:endParaRPr sz="1407"/>
            </a:p>
          </p:txBody>
        </p:sp>
        <p:pic>
          <p:nvPicPr>
            <p:cNvPr descr="mude a cor de preto para #502896" id="103" name="Google Shape;10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318656" y="2321497"/>
              <a:ext cx="195944" cy="195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de a cor de preto para #502896" id="104" name="Google Shape;104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318656" y="2547257"/>
              <a:ext cx="195944" cy="1959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6"/>
          <p:cNvSpPr txBox="1"/>
          <p:nvPr/>
        </p:nvSpPr>
        <p:spPr>
          <a:xfrm>
            <a:off x="2133600" y="1045200"/>
            <a:ext cx="63246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375" lIns="66375" spcFirstLastPara="1" rIns="66375" wrap="square" tIns="66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7"/>
              <a:t>Somos uma </a:t>
            </a:r>
            <a:r>
              <a:rPr i="1" lang="pt-BR" sz="1407"/>
              <a:t>joint venture</a:t>
            </a:r>
            <a:r>
              <a:rPr lang="pt-BR" sz="1407"/>
              <a:t> entre o </a:t>
            </a:r>
            <a:r>
              <a:rPr b="1" lang="pt-BR" sz="1407"/>
              <a:t>Grupo Rede Vistorias</a:t>
            </a:r>
            <a:r>
              <a:rPr lang="pt-BR" sz="1407"/>
              <a:t> e o </a:t>
            </a:r>
            <a:r>
              <a:rPr b="1" lang="pt-BR" sz="1407"/>
              <a:t>Grupo Brognoli</a:t>
            </a:r>
            <a:r>
              <a:rPr lang="pt-BR" sz="1407"/>
              <a:t>,</a:t>
            </a:r>
            <a:r>
              <a:rPr lang="pt-BR" sz="1407"/>
              <a:t> e temos como propósito  digitalizar e desburocratizar o setor de seguros, com foco inicial no mercado imobiliário</a:t>
            </a:r>
            <a:endParaRPr sz="140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726033" y="578525"/>
            <a:ext cx="5780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23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rPr>
              <a:t>PESSOAS CHAVES DA PARCERIA</a:t>
            </a:r>
            <a:endParaRPr b="1" sz="2323">
              <a:solidFill>
                <a:srgbClr val="4E01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7"/>
          <p:cNvSpPr/>
          <p:nvPr/>
        </p:nvSpPr>
        <p:spPr>
          <a:xfrm flipH="1" rot="-5400000">
            <a:off x="-1168800" y="3555600"/>
            <a:ext cx="2413800" cy="838200"/>
          </a:xfrm>
          <a:prstGeom prst="snip2DiagRect">
            <a:avLst>
              <a:gd fmla="val 0" name="adj1"/>
              <a:gd fmla="val 16667" name="adj2"/>
            </a:avLst>
          </a:prstGeom>
          <a:gradFill>
            <a:gsLst>
              <a:gs pos="0">
                <a:srgbClr val="6A2BB3"/>
              </a:gs>
              <a:gs pos="100000">
                <a:srgbClr val="522185"/>
              </a:gs>
            </a:gsLst>
            <a:lin ang="10801400" scaled="0"/>
          </a:gradFill>
          <a:ln>
            <a:noFill/>
          </a:ln>
          <a:effectLst>
            <a:outerShdw blurRad="57150" rotWithShape="0" algn="bl" dir="1584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685800" y="1143000"/>
            <a:ext cx="1852209" cy="1752448"/>
            <a:chOff x="762000" y="1295400"/>
            <a:chExt cx="2438400" cy="2286000"/>
          </a:xfrm>
        </p:grpSpPr>
        <p:sp>
          <p:nvSpPr>
            <p:cNvPr id="113" name="Google Shape;113;p17"/>
            <p:cNvSpPr/>
            <p:nvPr/>
          </p:nvSpPr>
          <p:spPr>
            <a:xfrm>
              <a:off x="7620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9144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Jonatan Matschulat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CEO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pela liderança estratégica da Lado Bom Seguros e pela governança da parceria com a CR.</a:t>
              </a:r>
              <a:endParaRPr sz="914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2794081" y="1143000"/>
            <a:ext cx="1852209" cy="1752448"/>
            <a:chOff x="3505200" y="1295400"/>
            <a:chExt cx="2438400" cy="2286000"/>
          </a:xfrm>
        </p:grpSpPr>
        <p:sp>
          <p:nvSpPr>
            <p:cNvPr id="116" name="Google Shape;116;p17"/>
            <p:cNvSpPr/>
            <p:nvPr/>
          </p:nvSpPr>
          <p:spPr>
            <a:xfrm>
              <a:off x="35052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36576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Douglas Berto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HEAD DE OPERAÇÕES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pela liderança das áreas operacionais, como de Contratação, Sinistro, Cobrança e Faturamento.</a:t>
              </a:r>
              <a:endParaRPr sz="914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4902363" y="1143000"/>
            <a:ext cx="1852209" cy="1752448"/>
            <a:chOff x="6248400" y="1295400"/>
            <a:chExt cx="2438400" cy="2286000"/>
          </a:xfrm>
        </p:grpSpPr>
        <p:sp>
          <p:nvSpPr>
            <p:cNvPr id="119" name="Google Shape;119;p17"/>
            <p:cNvSpPr/>
            <p:nvPr/>
          </p:nvSpPr>
          <p:spPr>
            <a:xfrm>
              <a:off x="62484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64008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Renan Vidal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CONSULTOR TÉCNICO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pelos seguros dos ramos elementares e pela responsabilidade técnica da corretora.</a:t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7010644" y="1143000"/>
            <a:ext cx="1852209" cy="1752448"/>
            <a:chOff x="6248400" y="1295400"/>
            <a:chExt cx="2438400" cy="2286000"/>
          </a:xfrm>
        </p:grpSpPr>
        <p:sp>
          <p:nvSpPr>
            <p:cNvPr id="122" name="Google Shape;122;p17"/>
            <p:cNvSpPr/>
            <p:nvPr/>
          </p:nvSpPr>
          <p:spPr>
            <a:xfrm>
              <a:off x="62484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64008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Ryan Silva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BUSINESS OPERATIONS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pela gestão estratégica da parceria com a CR e acompanhamento das principais frentes de negócio.</a:t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662147" y="3124352"/>
            <a:ext cx="1852209" cy="1752448"/>
            <a:chOff x="762000" y="1295400"/>
            <a:chExt cx="2438400" cy="2286000"/>
          </a:xfrm>
        </p:grpSpPr>
        <p:sp>
          <p:nvSpPr>
            <p:cNvPr id="125" name="Google Shape;125;p17"/>
            <p:cNvSpPr/>
            <p:nvPr/>
          </p:nvSpPr>
          <p:spPr>
            <a:xfrm>
              <a:off x="7620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9144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Sara Brum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HEAD DE MARKETING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pela estratégia de marketing e posicionamento de marca da Lado Bom, fortalecendo a presença e a comunicação da parceria.</a:t>
              </a:r>
              <a:endParaRPr sz="914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17"/>
          <p:cNvGrpSpPr/>
          <p:nvPr/>
        </p:nvGrpSpPr>
        <p:grpSpPr>
          <a:xfrm>
            <a:off x="2770428" y="3124352"/>
            <a:ext cx="1852209" cy="1752448"/>
            <a:chOff x="3505200" y="1295400"/>
            <a:chExt cx="2438400" cy="2286000"/>
          </a:xfrm>
        </p:grpSpPr>
        <p:sp>
          <p:nvSpPr>
            <p:cNvPr id="128" name="Google Shape;128;p17"/>
            <p:cNvSpPr/>
            <p:nvPr/>
          </p:nvSpPr>
          <p:spPr>
            <a:xfrm>
              <a:off x="35052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36576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Manuela Cardoso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SUPERVISORA DE SINISTROS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pela supervisão da equipe de sinistros, garantindo o andamento dos processos, a qualidade do atendimento e o alinhamento operacional.</a:t>
              </a:r>
              <a:endParaRPr sz="914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4878710" y="3124352"/>
            <a:ext cx="1852209" cy="1752448"/>
            <a:chOff x="6248400" y="1295400"/>
            <a:chExt cx="2438400" cy="2286000"/>
          </a:xfrm>
        </p:grpSpPr>
        <p:sp>
          <p:nvSpPr>
            <p:cNvPr id="131" name="Google Shape;131;p17"/>
            <p:cNvSpPr/>
            <p:nvPr/>
          </p:nvSpPr>
          <p:spPr>
            <a:xfrm>
              <a:off x="62484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4008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Cesar Eduardo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SUPERVISOR DE CONTRATAÇÃO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pela supervisão da equipe de contratação, garantindo o cumprimento dos processos e dos SLAs estabelecidos.</a:t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6986991" y="3124352"/>
            <a:ext cx="1852209" cy="1752448"/>
            <a:chOff x="6248400" y="1295400"/>
            <a:chExt cx="2438400" cy="2286000"/>
          </a:xfrm>
        </p:grpSpPr>
        <p:sp>
          <p:nvSpPr>
            <p:cNvPr id="134" name="Google Shape;134;p17"/>
            <p:cNvSpPr/>
            <p:nvPr/>
          </p:nvSpPr>
          <p:spPr>
            <a:xfrm>
              <a:off x="6248400" y="1295400"/>
              <a:ext cx="2438400" cy="2286000"/>
            </a:xfrm>
            <a:prstGeom prst="roundRect">
              <a:avLst>
                <a:gd fmla="val 6387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7419" rotWithShape="0" algn="bl" dir="8100000" dist="29032">
                <a:srgbClr val="000000">
                  <a:alpha val="20000"/>
                </a:srgbClr>
              </a:outerShdw>
            </a:effectLst>
          </p:spPr>
          <p:txBody>
            <a:bodyPr anchorCtr="0" anchor="ctr" bIns="69675" lIns="69675" spcFirstLastPara="1" rIns="69675" wrap="square" tIns="69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7"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6400800" y="1447800"/>
              <a:ext cx="22098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  <a:t>Ana Minato</a:t>
              </a:r>
              <a:br>
                <a:rPr b="1" lang="pt-BR" sz="1295">
                  <a:solidFill>
                    <a:srgbClr val="321664"/>
                  </a:solidFill>
                  <a:highlight>
                    <a:srgbClr val="FFFFFF"/>
                  </a:highlight>
                </a:rPr>
              </a:b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CONSULTORA DE SEGUROS</a:t>
              </a:r>
              <a:r>
                <a:rPr b="1" lang="pt-BR" sz="814">
                  <a:solidFill>
                    <a:srgbClr val="F39C12"/>
                  </a:solidFill>
                  <a:highlight>
                    <a:srgbClr val="FFFFFF"/>
                  </a:highlight>
                </a:rPr>
                <a:t> - Condomínios</a:t>
              </a:r>
              <a:endParaRPr b="1" sz="814">
                <a:solidFill>
                  <a:srgbClr val="F39C12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b="1" lang="pt-BR" sz="914">
                  <a:solidFill>
                    <a:srgbClr val="1E293B"/>
                  </a:solidFill>
                  <a:highlight>
                    <a:srgbClr val="FFFFFF"/>
                  </a:highlight>
                </a:rPr>
                <a:t>Principais Funções:</a:t>
              </a:r>
              <a:endParaRPr b="1" sz="914">
                <a:solidFill>
                  <a:srgbClr val="1E293B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52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rPr lang="pt-BR" sz="914">
                  <a:solidFill>
                    <a:srgbClr val="4A5568"/>
                  </a:solidFill>
                  <a:highlight>
                    <a:srgbClr val="FFFFFF"/>
                  </a:highlight>
                </a:rPr>
                <a:t>Responsável pela gestão, renovação e contratação das carteiras de seguros da vertical de condomínios.</a:t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38"/>
                <a:buFont typeface="Arial"/>
                <a:buNone/>
              </a:pPr>
              <a:r>
                <a:t/>
              </a:r>
              <a:endParaRPr sz="914">
                <a:solidFill>
                  <a:srgbClr val="4A5568"/>
                </a:solidFill>
                <a:highlight>
                  <a:srgbClr val="FFFFFF"/>
                </a:highlight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726033" y="578525"/>
            <a:ext cx="5780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23">
                <a:solidFill>
                  <a:srgbClr val="4E018D"/>
                </a:solidFill>
                <a:latin typeface="Roboto"/>
                <a:ea typeface="Roboto"/>
                <a:cs typeface="Roboto"/>
                <a:sym typeface="Roboto"/>
              </a:rPr>
              <a:t>PRINCIPAIS PROJETOS</a:t>
            </a:r>
            <a:endParaRPr b="1" sz="2323">
              <a:solidFill>
                <a:srgbClr val="4E01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1" name="Google Shape;141;p18"/>
          <p:cNvGrpSpPr/>
          <p:nvPr/>
        </p:nvGrpSpPr>
        <p:grpSpPr>
          <a:xfrm>
            <a:off x="609601" y="1291500"/>
            <a:ext cx="3733799" cy="1451700"/>
            <a:chOff x="609601" y="1199100"/>
            <a:chExt cx="3733799" cy="1451700"/>
          </a:xfrm>
        </p:grpSpPr>
        <p:sp>
          <p:nvSpPr>
            <p:cNvPr id="142" name="Google Shape;142;p18"/>
            <p:cNvSpPr txBox="1"/>
            <p:nvPr/>
          </p:nvSpPr>
          <p:spPr>
            <a:xfrm>
              <a:off x="685800" y="1199100"/>
              <a:ext cx="3657600" cy="14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375" lIns="66375" spcFirstLastPara="1" rIns="66375" wrap="square" tIns="66375">
              <a:spAutoFit/>
            </a:bodyPr>
            <a:lstStyle/>
            <a:p>
              <a:pPr indent="-330200" lvl="0" marL="45720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39C12"/>
                </a:buClr>
                <a:buSzPts val="1600"/>
                <a:buChar char="●"/>
              </a:pPr>
              <a:r>
                <a:rPr b="1" lang="pt-BR" sz="1600">
                  <a:solidFill>
                    <a:srgbClr val="F39C12"/>
                  </a:solidFill>
                </a:rPr>
                <a:t>Plataforma Lado Bom</a:t>
              </a:r>
              <a:endParaRPr b="1" sz="1600">
                <a:solidFill>
                  <a:srgbClr val="F39C12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evolução do fluxo operacional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estruturação de fluxos integrados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centralização da jornada operacional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acompanhamento de indicadores via plataforma</a:t>
              </a:r>
              <a:endParaRPr sz="1507"/>
            </a:p>
          </p:txBody>
        </p:sp>
        <p:pic>
          <p:nvPicPr>
            <p:cNvPr id="143" name="Google Shape;143;p18"/>
            <p:cNvPicPr preferRelativeResize="0"/>
            <p:nvPr/>
          </p:nvPicPr>
          <p:blipFill rotWithShape="1">
            <a:blip r:embed="rId3">
              <a:alphaModFix/>
            </a:blip>
            <a:srcRect b="0" l="10" r="10" t="0"/>
            <a:stretch/>
          </p:blipFill>
          <p:spPr>
            <a:xfrm>
              <a:off x="609601" y="1199100"/>
              <a:ext cx="533399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8"/>
          <p:cNvGrpSpPr/>
          <p:nvPr/>
        </p:nvGrpSpPr>
        <p:grpSpPr>
          <a:xfrm>
            <a:off x="727213" y="3124200"/>
            <a:ext cx="3692387" cy="1239300"/>
            <a:chOff x="727212" y="3276600"/>
            <a:chExt cx="3692387" cy="1239300"/>
          </a:xfrm>
        </p:grpSpPr>
        <p:sp>
          <p:nvSpPr>
            <p:cNvPr id="145" name="Google Shape;145;p18"/>
            <p:cNvSpPr txBox="1"/>
            <p:nvPr/>
          </p:nvSpPr>
          <p:spPr>
            <a:xfrm>
              <a:off x="761999" y="3276600"/>
              <a:ext cx="3657600" cy="12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375" lIns="66375" spcFirstLastPara="1" rIns="66375" wrap="square" tIns="66375">
              <a:spAutoFit/>
            </a:bodyPr>
            <a:lstStyle/>
            <a:p>
              <a:pPr indent="-330200" lvl="0" marL="45720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39C12"/>
                </a:buClr>
                <a:buSzPts val="1600"/>
                <a:buChar char="●"/>
              </a:pPr>
              <a:r>
                <a:rPr b="1" lang="pt-BR" sz="1600">
                  <a:solidFill>
                    <a:srgbClr val="F39C12"/>
                  </a:solidFill>
                </a:rPr>
                <a:t>Aproximação dos Times</a:t>
              </a:r>
              <a:endParaRPr b="1" sz="1600">
                <a:solidFill>
                  <a:srgbClr val="F39C12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aproximação com times RS e SC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visitas </a:t>
              </a:r>
              <a:r>
                <a:rPr lang="pt-BR" sz="1200">
                  <a:solidFill>
                    <a:schemeClr val="dk1"/>
                  </a:solidFill>
                </a:rPr>
                <a:t>presenciais</a:t>
              </a:r>
              <a:r>
                <a:rPr lang="pt-BR" sz="1200">
                  <a:solidFill>
                    <a:schemeClr val="dk1"/>
                  </a:solidFill>
                </a:rPr>
                <a:t> 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revis</a:t>
              </a:r>
              <a:r>
                <a:rPr lang="pt-BR" sz="1200">
                  <a:solidFill>
                    <a:schemeClr val="dk1"/>
                  </a:solidFill>
                </a:rPr>
                <a:t>ão de fluxos e melhorias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definição de reuniões</a:t>
              </a:r>
              <a:endParaRPr sz="1200">
                <a:solidFill>
                  <a:schemeClr val="dk1"/>
                </a:solidFill>
              </a:endParaRPr>
            </a:p>
          </p:txBody>
        </p:sp>
        <p:pic>
          <p:nvPicPr>
            <p:cNvPr id="146" name="Google Shape;146;p18"/>
            <p:cNvPicPr preferRelativeResize="0"/>
            <p:nvPr/>
          </p:nvPicPr>
          <p:blipFill rotWithShape="1">
            <a:blip r:embed="rId4">
              <a:alphaModFix/>
            </a:blip>
            <a:srcRect b="-18318" l="0" r="0" t="1195"/>
            <a:stretch/>
          </p:blipFill>
          <p:spPr>
            <a:xfrm>
              <a:off x="727212" y="3276600"/>
              <a:ext cx="457201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8"/>
          <p:cNvGrpSpPr/>
          <p:nvPr/>
        </p:nvGrpSpPr>
        <p:grpSpPr>
          <a:xfrm>
            <a:off x="4724400" y="1219200"/>
            <a:ext cx="3886200" cy="1736400"/>
            <a:chOff x="685799" y="3204300"/>
            <a:chExt cx="3886200" cy="1736400"/>
          </a:xfrm>
        </p:grpSpPr>
        <p:sp>
          <p:nvSpPr>
            <p:cNvPr id="148" name="Google Shape;148;p18"/>
            <p:cNvSpPr txBox="1"/>
            <p:nvPr/>
          </p:nvSpPr>
          <p:spPr>
            <a:xfrm>
              <a:off x="761999" y="3276600"/>
              <a:ext cx="3810000" cy="16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375" lIns="66375" spcFirstLastPara="1" rIns="66375" wrap="square" tIns="66375">
              <a:spAutoFit/>
            </a:bodyPr>
            <a:lstStyle/>
            <a:p>
              <a:pPr indent="-330200" lvl="0" marL="45720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39C12"/>
                </a:buClr>
                <a:buSzPts val="1600"/>
                <a:buChar char="●"/>
              </a:pPr>
              <a:r>
                <a:rPr b="1" lang="pt-BR" sz="1600">
                  <a:solidFill>
                    <a:srgbClr val="F39C12"/>
                  </a:solidFill>
                </a:rPr>
                <a:t>Marca, Comercial e Crescimento</a:t>
              </a:r>
              <a:endParaRPr b="1" sz="1600">
                <a:solidFill>
                  <a:srgbClr val="F39C12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análises mensais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elaboração materiais comerciais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investimentos em marketing e relacionamento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pt-BR" sz="1200">
                  <a:solidFill>
                    <a:schemeClr val="dk1"/>
                  </a:solidFill>
                </a:rPr>
                <a:t>aproximação da CR com seguradoras parceiras </a:t>
              </a:r>
              <a:endParaRPr sz="1200">
                <a:solidFill>
                  <a:schemeClr val="dk1"/>
                </a:solidFill>
              </a:endParaRPr>
            </a:p>
          </p:txBody>
        </p:sp>
        <p:pic>
          <p:nvPicPr>
            <p:cNvPr id="149" name="Google Shape;149;p18"/>
            <p:cNvPicPr preferRelativeResize="0"/>
            <p:nvPr/>
          </p:nvPicPr>
          <p:blipFill rotWithShape="1">
            <a:blip r:embed="rId5">
              <a:alphaModFix/>
            </a:blip>
            <a:srcRect b="-4458" l="0" r="0" t="-3755"/>
            <a:stretch/>
          </p:blipFill>
          <p:spPr>
            <a:xfrm>
              <a:off x="685799" y="3204300"/>
              <a:ext cx="457201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18"/>
          <p:cNvSpPr/>
          <p:nvPr/>
        </p:nvSpPr>
        <p:spPr>
          <a:xfrm>
            <a:off x="4800600" y="3505200"/>
            <a:ext cx="4876800" cy="838200"/>
          </a:xfrm>
          <a:prstGeom prst="roundRect">
            <a:avLst>
              <a:gd fmla="val 638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029200" y="3685500"/>
            <a:ext cx="3810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375" lIns="66375" spcFirstLastPara="1" rIns="66375" wrap="square" tIns="66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207"/>
              <a:t>Início de 2026 marcado por avanços estratégicos e maior integração entre Lado Bom e Crédito Real.</a:t>
            </a:r>
            <a:endParaRPr i="1" sz="120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